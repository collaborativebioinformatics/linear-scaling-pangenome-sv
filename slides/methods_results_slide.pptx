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0" r:id="rId2"/>
    <p:sldId id="256" r:id="rId3"/>
    <p:sldId id="257" r:id="rId4"/>
    <p:sldId id="266" r:id="rId5"/>
    <p:sldId id="258" r:id="rId6"/>
    <p:sldId id="259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48"/>
    <p:restoredTop sz="94610"/>
  </p:normalViewPr>
  <p:slideViewPr>
    <p:cSldViewPr snapToGrid="0" snapToObjects="1">
      <p:cViewPr>
        <p:scale>
          <a:sx n="128" d="100"/>
          <a:sy n="128" d="100"/>
        </p:scale>
        <p:origin x="528" y="1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1935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CD17CE-5B58-5774-2C74-A8FB989544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766" b="28516"/>
          <a:stretch>
            <a:fillRect/>
          </a:stretch>
        </p:blipFill>
        <p:spPr>
          <a:xfrm>
            <a:off x="2844800" y="1137920"/>
            <a:ext cx="6502400" cy="36880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C1DDCF-0AB7-A302-EA7F-E0F154D491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56" t="72031" r="156" b="15625"/>
          <a:stretch>
            <a:fillRect/>
          </a:stretch>
        </p:blipFill>
        <p:spPr>
          <a:xfrm>
            <a:off x="2844800" y="4917440"/>
            <a:ext cx="6502400" cy="80264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91A4473-B877-0ED2-E894-0D7CDC312A47}"/>
              </a:ext>
            </a:extLst>
          </p:cNvPr>
          <p:cNvSpPr/>
          <p:nvPr/>
        </p:nvSpPr>
        <p:spPr>
          <a:xfrm>
            <a:off x="3445463" y="3100906"/>
            <a:ext cx="236433" cy="236433"/>
          </a:xfrm>
          <a:prstGeom prst="ellipse">
            <a:avLst/>
          </a:prstGeom>
          <a:solidFill>
            <a:schemeClr val="bg1"/>
          </a:solidFill>
          <a:ln w="2794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096B197-0A43-921F-15BF-2964268D5390}"/>
              </a:ext>
            </a:extLst>
          </p:cNvPr>
          <p:cNvSpPr/>
          <p:nvPr/>
        </p:nvSpPr>
        <p:spPr>
          <a:xfrm>
            <a:off x="5251463" y="1325614"/>
            <a:ext cx="239227" cy="357098"/>
          </a:xfrm>
          <a:prstGeom prst="roundRect">
            <a:avLst>
              <a:gd name="adj" fmla="val 34282"/>
            </a:avLst>
          </a:prstGeom>
          <a:solidFill>
            <a:schemeClr val="tx2">
              <a:alpha val="27039"/>
            </a:schemeClr>
          </a:solidFill>
          <a:ln w="2794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BC94D9A-26CC-A17A-EA13-61A612933369}"/>
              </a:ext>
            </a:extLst>
          </p:cNvPr>
          <p:cNvSpPr/>
          <p:nvPr/>
        </p:nvSpPr>
        <p:spPr>
          <a:xfrm>
            <a:off x="4518992" y="3100906"/>
            <a:ext cx="236433" cy="236433"/>
          </a:xfrm>
          <a:prstGeom prst="ellipse">
            <a:avLst/>
          </a:prstGeom>
          <a:solidFill>
            <a:schemeClr val="bg1"/>
          </a:solidFill>
          <a:ln w="2794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0AFFAE-F677-F540-09E1-354F8D36DB25}"/>
              </a:ext>
            </a:extLst>
          </p:cNvPr>
          <p:cNvSpPr/>
          <p:nvPr/>
        </p:nvSpPr>
        <p:spPr>
          <a:xfrm>
            <a:off x="5436829" y="3100906"/>
            <a:ext cx="236433" cy="236433"/>
          </a:xfrm>
          <a:prstGeom prst="ellipse">
            <a:avLst/>
          </a:prstGeom>
          <a:solidFill>
            <a:schemeClr val="bg1"/>
          </a:solidFill>
          <a:ln w="2794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A77F848-BEC1-19CE-5C8D-A2E478DD9E47}"/>
              </a:ext>
            </a:extLst>
          </p:cNvPr>
          <p:cNvSpPr/>
          <p:nvPr/>
        </p:nvSpPr>
        <p:spPr>
          <a:xfrm>
            <a:off x="6354666" y="3117924"/>
            <a:ext cx="236433" cy="236433"/>
          </a:xfrm>
          <a:prstGeom prst="ellipse">
            <a:avLst/>
          </a:prstGeom>
          <a:solidFill>
            <a:schemeClr val="bg1"/>
          </a:solidFill>
          <a:ln w="2794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446727F-5BA4-9C99-1A15-C432F7E3016E}"/>
              </a:ext>
            </a:extLst>
          </p:cNvPr>
          <p:cNvSpPr/>
          <p:nvPr/>
        </p:nvSpPr>
        <p:spPr>
          <a:xfrm>
            <a:off x="8455787" y="3117924"/>
            <a:ext cx="236433" cy="236433"/>
          </a:xfrm>
          <a:prstGeom prst="ellipse">
            <a:avLst/>
          </a:prstGeom>
          <a:solidFill>
            <a:schemeClr val="bg1"/>
          </a:solidFill>
          <a:ln w="2794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4455EEB-86F1-09C0-BAC4-0726E1A3758A}"/>
              </a:ext>
            </a:extLst>
          </p:cNvPr>
          <p:cNvSpPr/>
          <p:nvPr/>
        </p:nvSpPr>
        <p:spPr>
          <a:xfrm>
            <a:off x="5788610" y="4230954"/>
            <a:ext cx="239227" cy="508437"/>
          </a:xfrm>
          <a:prstGeom prst="roundRect">
            <a:avLst>
              <a:gd name="adj" fmla="val 34282"/>
            </a:avLst>
          </a:prstGeom>
          <a:solidFill>
            <a:schemeClr val="tx2">
              <a:alpha val="27039"/>
            </a:schemeClr>
          </a:solidFill>
          <a:ln w="2794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D82C966-E052-69A6-DA0D-0764A51112F9}"/>
              </a:ext>
            </a:extLst>
          </p:cNvPr>
          <p:cNvSpPr/>
          <p:nvPr/>
        </p:nvSpPr>
        <p:spPr>
          <a:xfrm>
            <a:off x="4443372" y="3573232"/>
            <a:ext cx="239227" cy="810945"/>
          </a:xfrm>
          <a:prstGeom prst="roundRect">
            <a:avLst>
              <a:gd name="adj" fmla="val 34282"/>
            </a:avLst>
          </a:prstGeom>
          <a:solidFill>
            <a:schemeClr val="tx2">
              <a:alpha val="27039"/>
            </a:schemeClr>
          </a:solidFill>
          <a:ln w="2794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8FAC7A2-646D-3563-48A4-6DBE50B0120E}"/>
              </a:ext>
            </a:extLst>
          </p:cNvPr>
          <p:cNvSpPr/>
          <p:nvPr/>
        </p:nvSpPr>
        <p:spPr>
          <a:xfrm>
            <a:off x="5030563" y="3455015"/>
            <a:ext cx="236433" cy="236433"/>
          </a:xfrm>
          <a:prstGeom prst="ellipse">
            <a:avLst/>
          </a:prstGeom>
          <a:solidFill>
            <a:schemeClr val="bg1"/>
          </a:solidFill>
          <a:ln w="2794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E779CCF-DE2E-22B7-7E8A-4F38DFFA6577}"/>
              </a:ext>
            </a:extLst>
          </p:cNvPr>
          <p:cNvSpPr/>
          <p:nvPr/>
        </p:nvSpPr>
        <p:spPr>
          <a:xfrm>
            <a:off x="7452759" y="3669356"/>
            <a:ext cx="236433" cy="236433"/>
          </a:xfrm>
          <a:prstGeom prst="ellipse">
            <a:avLst/>
          </a:prstGeom>
          <a:solidFill>
            <a:schemeClr val="bg1"/>
          </a:solidFill>
          <a:ln w="2794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581B827-D57A-1B25-34CD-3AC410CC8580}"/>
              </a:ext>
            </a:extLst>
          </p:cNvPr>
          <p:cNvSpPr/>
          <p:nvPr/>
        </p:nvSpPr>
        <p:spPr>
          <a:xfrm>
            <a:off x="5458322" y="2146875"/>
            <a:ext cx="239227" cy="703055"/>
          </a:xfrm>
          <a:prstGeom prst="roundRect">
            <a:avLst>
              <a:gd name="adj" fmla="val 34282"/>
            </a:avLst>
          </a:prstGeom>
          <a:solidFill>
            <a:schemeClr val="tx2">
              <a:alpha val="27039"/>
            </a:schemeClr>
          </a:solidFill>
          <a:ln w="2794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8D01483-0725-3D4A-CB1E-C5D9473F3B45}"/>
              </a:ext>
            </a:extLst>
          </p:cNvPr>
          <p:cNvSpPr/>
          <p:nvPr/>
        </p:nvSpPr>
        <p:spPr>
          <a:xfrm>
            <a:off x="6861797" y="2473179"/>
            <a:ext cx="236433" cy="236433"/>
          </a:xfrm>
          <a:prstGeom prst="ellipse">
            <a:avLst/>
          </a:prstGeom>
          <a:solidFill>
            <a:schemeClr val="bg1"/>
          </a:solidFill>
          <a:ln w="2794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90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 Preparation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HPRC Release 2 → chr21 smoke-test interval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HPRC Release 2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data, no access request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66160" y="15544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15875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6616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Select Haplotypes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HG00673, HG00733 + GRCh38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AECE7"/>
          </a:solidFill>
          <a:ln w="1587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Extract chr21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minimap2 interval mapping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869680" y="15544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1587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Smoke Interval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chr21:20M–21M (~1 Mb)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2011680"/>
            <a:ext cx="274320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0" y="2011680"/>
            <a:ext cx="274320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595360" y="2011680"/>
            <a:ext cx="274320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57200" y="2880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chr21?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918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human autosome (~47 Mb) — fast to iterate on</a:t>
            </a:r>
            <a:endParaRPr lang="en-US" sz="15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well-characterized structural variation</a:t>
            </a:r>
            <a:endParaRPr lang="en-US" sz="15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enough to smoke-test before scaling genome-wide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2880360"/>
            <a:ext cx="16916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Mb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4014216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interval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2880360"/>
            <a:ext cx="16916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≥20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8001000" y="4014216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MAPQ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0" y="2880360"/>
            <a:ext cx="16916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4014216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query coverage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029200"/>
            <a:ext cx="11274552" cy="1234440"/>
          </a:xfrm>
          <a:prstGeom prst="roundRect">
            <a:avLst>
              <a:gd name="adj" fmla="val 8889"/>
            </a:avLst>
          </a:prstGeom>
          <a:solidFill>
            <a:srgbClr val="F1EFE8"/>
          </a:solidFill>
          <a:ln w="15875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31520" y="51937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Environment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5321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DNAnexus Cloud Workstation (mem3_ssd1_v2_x16) — dxpy / dx CLI — project Group11_2026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51937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Scripts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5532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fetch_hprc_index.py → download_hprc.py → prepare_reference.sh → map_chromosome.py → prepare_sequences.py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riangle 146">
            <a:extLst>
              <a:ext uri="{FF2B5EF4-FFF2-40B4-BE49-F238E27FC236}">
                <a16:creationId xmlns:a16="http://schemas.microsoft.com/office/drawing/2014/main" id="{2ADF1285-3105-8AE1-E655-FC587B8F4E74}"/>
              </a:ext>
            </a:extLst>
          </p:cNvPr>
          <p:cNvSpPr/>
          <p:nvPr/>
        </p:nvSpPr>
        <p:spPr>
          <a:xfrm>
            <a:off x="1063486" y="3378003"/>
            <a:ext cx="10179459" cy="852926"/>
          </a:xfrm>
          <a:prstGeom prst="triangle">
            <a:avLst>
              <a:gd name="adj" fmla="val 95573"/>
            </a:avLst>
          </a:prstGeom>
          <a:solidFill>
            <a:schemeClr val="accent1">
              <a:lumMod val="60000"/>
              <a:lumOff val="40000"/>
              <a:alpha val="316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 txBox="1"/>
          <p:nvPr/>
        </p:nvSpPr>
        <p:spPr>
          <a:xfrm>
            <a:off x="457200" y="383807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vs. Parallel Graph Construction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00116" cy="2331720"/>
          </a:xfrm>
          <a:prstGeom prst="roundRect">
            <a:avLst>
              <a:gd name="adj" fmla="val 4706"/>
            </a:avLst>
          </a:prstGeom>
          <a:solidFill>
            <a:srgbClr val="FAECE7"/>
          </a:solidFill>
          <a:ln w="1587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6231636" y="1325880"/>
            <a:ext cx="5500116" cy="2331720"/>
          </a:xfrm>
          <a:prstGeom prst="roundRect">
            <a:avLst>
              <a:gd name="adj" fmla="val 4706"/>
            </a:avLst>
          </a:prstGeom>
          <a:solidFill>
            <a:srgbClr val="E6F1FB"/>
          </a:solidFill>
          <a:ln w="1587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" name="Text 4"/>
          <p:cNvSpPr txBox="1"/>
          <p:nvPr/>
        </p:nvSpPr>
        <p:spPr>
          <a:xfrm>
            <a:off x="731520" y="1472184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— 5 vs. 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flipH="1" flipV="1">
            <a:off x="2377439" y="1801368"/>
            <a:ext cx="2110421" cy="279686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1" name="Shape 9"/>
          <p:cNvSpPr/>
          <p:nvPr/>
        </p:nvSpPr>
        <p:spPr>
          <a:xfrm flipH="1">
            <a:off x="2411718" y="1736017"/>
            <a:ext cx="2072014" cy="431352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2415844" y="1792224"/>
            <a:ext cx="2072015" cy="1285766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3572738" y="2999352"/>
            <a:ext cx="0" cy="0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3572738" y="2999352"/>
            <a:ext cx="0" cy="0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Text 20"/>
          <p:cNvSpPr txBox="1"/>
          <p:nvPr/>
        </p:nvSpPr>
        <p:spPr>
          <a:xfrm>
            <a:off x="949054" y="3207553"/>
            <a:ext cx="4951476" cy="2948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(N−1)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431195"/>
            <a:ext cx="4951476" cy="180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sample cross-compared to every sample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505956" y="1472184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— 5 vs. 1 Reference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981694" y="2496312"/>
            <a:ext cx="0" cy="0"/>
          </a:xfrm>
          <a:prstGeom prst="line">
            <a:avLst/>
          </a:prstGeom>
          <a:noFill/>
          <a:ln w="13970">
            <a:solidFill>
              <a:srgbClr val="888780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7673645" y="2491738"/>
            <a:ext cx="910216" cy="103653"/>
          </a:xfrm>
          <a:prstGeom prst="line">
            <a:avLst/>
          </a:prstGeom>
          <a:noFill/>
          <a:ln w="13970">
            <a:solidFill>
              <a:srgbClr val="888780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27" name="Shape 25"/>
          <p:cNvSpPr/>
          <p:nvPr/>
        </p:nvSpPr>
        <p:spPr>
          <a:xfrm>
            <a:off x="7757962" y="2464248"/>
            <a:ext cx="836775" cy="503040"/>
          </a:xfrm>
          <a:prstGeom prst="line">
            <a:avLst/>
          </a:prstGeom>
          <a:noFill/>
          <a:ln w="13970">
            <a:solidFill>
              <a:srgbClr val="888780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28" name="Shape 26"/>
          <p:cNvSpPr/>
          <p:nvPr/>
        </p:nvSpPr>
        <p:spPr>
          <a:xfrm>
            <a:off x="7768838" y="2491739"/>
            <a:ext cx="836774" cy="799239"/>
          </a:xfrm>
          <a:prstGeom prst="line">
            <a:avLst/>
          </a:prstGeom>
          <a:noFill/>
          <a:ln w="13970">
            <a:solidFill>
              <a:srgbClr val="888780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8981694" y="2496312"/>
            <a:ext cx="0" cy="0"/>
          </a:xfrm>
          <a:prstGeom prst="line">
            <a:avLst/>
          </a:prstGeom>
          <a:noFill/>
          <a:ln w="13970">
            <a:solidFill>
              <a:srgbClr val="888780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31" name="Shape 29"/>
          <p:cNvSpPr/>
          <p:nvPr/>
        </p:nvSpPr>
        <p:spPr>
          <a:xfrm>
            <a:off x="8516291" y="2868416"/>
            <a:ext cx="146304" cy="146304"/>
          </a:xfrm>
          <a:prstGeom prst="ellipse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2" name="Shape 30"/>
          <p:cNvSpPr/>
          <p:nvPr/>
        </p:nvSpPr>
        <p:spPr>
          <a:xfrm>
            <a:off x="8516291" y="2512448"/>
            <a:ext cx="146304" cy="146304"/>
          </a:xfrm>
          <a:prstGeom prst="ellipse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8516291" y="3224384"/>
            <a:ext cx="146304" cy="146304"/>
          </a:xfrm>
          <a:prstGeom prst="ellipse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6" name="Text 34"/>
          <p:cNvSpPr txBox="1"/>
          <p:nvPr/>
        </p:nvSpPr>
        <p:spPr>
          <a:xfrm>
            <a:off x="6505956" y="3136392"/>
            <a:ext cx="4951476" cy="2948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800" dirty="0"/>
          </a:p>
        </p:txBody>
      </p:sp>
      <p:sp>
        <p:nvSpPr>
          <p:cNvPr id="37" name="Text 35"/>
          <p:cNvSpPr txBox="1"/>
          <p:nvPr/>
        </p:nvSpPr>
        <p:spPr>
          <a:xfrm>
            <a:off x="6505956" y="3431195"/>
            <a:ext cx="4951476" cy="180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sample compared only to the reference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3794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Reassembly: 5 SV Call Graphs → 1 Graph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2960" y="4224528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F1EFE8"/>
          </a:solidFill>
          <a:ln w="15875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0" name="Text 38"/>
          <p:cNvSpPr txBox="1"/>
          <p:nvPr/>
        </p:nvSpPr>
        <p:spPr>
          <a:xfrm>
            <a:off x="822960" y="4297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Graph 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 flipV="1">
            <a:off x="1188720" y="4590288"/>
            <a:ext cx="335280" cy="22860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42" name="Shape 40"/>
          <p:cNvSpPr/>
          <p:nvPr/>
        </p:nvSpPr>
        <p:spPr>
          <a:xfrm>
            <a:off x="1196642" y="4817059"/>
            <a:ext cx="288037" cy="233755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43" name="Shape 41"/>
          <p:cNvSpPr/>
          <p:nvPr/>
        </p:nvSpPr>
        <p:spPr>
          <a:xfrm>
            <a:off x="1562404" y="4590288"/>
            <a:ext cx="815036" cy="22860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44" name="Shape 42"/>
          <p:cNvSpPr/>
          <p:nvPr/>
        </p:nvSpPr>
        <p:spPr>
          <a:xfrm flipV="1">
            <a:off x="1504798" y="4818888"/>
            <a:ext cx="864717" cy="231926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45" name="Shape 43"/>
          <p:cNvSpPr/>
          <p:nvPr/>
        </p:nvSpPr>
        <p:spPr>
          <a:xfrm>
            <a:off x="1150315" y="4780483"/>
            <a:ext cx="76810" cy="76810"/>
          </a:xfrm>
          <a:prstGeom prst="ellipse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6" name="Shape 44"/>
          <p:cNvSpPr/>
          <p:nvPr/>
        </p:nvSpPr>
        <p:spPr>
          <a:xfrm>
            <a:off x="1496872" y="4536564"/>
            <a:ext cx="76810" cy="76810"/>
          </a:xfrm>
          <a:prstGeom prst="ellipse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7" name="Shape 45"/>
          <p:cNvSpPr/>
          <p:nvPr/>
        </p:nvSpPr>
        <p:spPr>
          <a:xfrm>
            <a:off x="1457374" y="5016398"/>
            <a:ext cx="76810" cy="76810"/>
          </a:xfrm>
          <a:prstGeom prst="ellipse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8" name="Shape 46"/>
          <p:cNvSpPr/>
          <p:nvPr/>
        </p:nvSpPr>
        <p:spPr>
          <a:xfrm>
            <a:off x="2339035" y="4780483"/>
            <a:ext cx="76810" cy="76810"/>
          </a:xfrm>
          <a:prstGeom prst="ellipse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9" name="Shape 47"/>
          <p:cNvSpPr/>
          <p:nvPr/>
        </p:nvSpPr>
        <p:spPr>
          <a:xfrm>
            <a:off x="2971800" y="4224528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F1EFE8"/>
          </a:solidFill>
          <a:ln w="15875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0" name="Text 48"/>
          <p:cNvSpPr txBox="1"/>
          <p:nvPr/>
        </p:nvSpPr>
        <p:spPr>
          <a:xfrm>
            <a:off x="2971800" y="4297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Graph 2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 flipV="1">
            <a:off x="3337560" y="4544568"/>
            <a:ext cx="460856" cy="27432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52" name="Shape 50"/>
          <p:cNvSpPr/>
          <p:nvPr/>
        </p:nvSpPr>
        <p:spPr>
          <a:xfrm>
            <a:off x="3337560" y="4818888"/>
            <a:ext cx="492953" cy="223112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53" name="Shape 51"/>
          <p:cNvSpPr/>
          <p:nvPr/>
        </p:nvSpPr>
        <p:spPr>
          <a:xfrm>
            <a:off x="3836822" y="4557370"/>
            <a:ext cx="689458" cy="261518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55" name="Shape 53"/>
          <p:cNvSpPr/>
          <p:nvPr/>
        </p:nvSpPr>
        <p:spPr>
          <a:xfrm>
            <a:off x="3299155" y="4780483"/>
            <a:ext cx="76810" cy="76810"/>
          </a:xfrm>
          <a:prstGeom prst="ellipse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6" name="Shape 54"/>
          <p:cNvSpPr/>
          <p:nvPr/>
        </p:nvSpPr>
        <p:spPr>
          <a:xfrm>
            <a:off x="3798418" y="4518965"/>
            <a:ext cx="76810" cy="76810"/>
          </a:xfrm>
          <a:prstGeom prst="ellipse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7" name="Shape 55"/>
          <p:cNvSpPr/>
          <p:nvPr/>
        </p:nvSpPr>
        <p:spPr>
          <a:xfrm>
            <a:off x="3792109" y="4993538"/>
            <a:ext cx="76810" cy="76810"/>
          </a:xfrm>
          <a:prstGeom prst="ellipse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8" name="Shape 56"/>
          <p:cNvSpPr/>
          <p:nvPr/>
        </p:nvSpPr>
        <p:spPr>
          <a:xfrm>
            <a:off x="4487875" y="4780483"/>
            <a:ext cx="76810" cy="76810"/>
          </a:xfrm>
          <a:prstGeom prst="ellipse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9" name="Shape 57"/>
          <p:cNvSpPr/>
          <p:nvPr/>
        </p:nvSpPr>
        <p:spPr>
          <a:xfrm>
            <a:off x="5120640" y="4224528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F1EFE8"/>
          </a:solidFill>
          <a:ln w="15875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0" name="Text 58"/>
          <p:cNvSpPr txBox="1"/>
          <p:nvPr/>
        </p:nvSpPr>
        <p:spPr>
          <a:xfrm>
            <a:off x="5120640" y="4297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Graph 3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 flipV="1">
            <a:off x="5486400" y="4544568"/>
            <a:ext cx="232258" cy="27432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62" name="Shape 60"/>
          <p:cNvSpPr/>
          <p:nvPr/>
        </p:nvSpPr>
        <p:spPr>
          <a:xfrm>
            <a:off x="5486400" y="4818888"/>
            <a:ext cx="196596" cy="17465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63" name="Shape 61"/>
          <p:cNvSpPr/>
          <p:nvPr/>
        </p:nvSpPr>
        <p:spPr>
          <a:xfrm>
            <a:off x="5769307" y="4564684"/>
            <a:ext cx="131223" cy="22860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64" name="Shape 62"/>
          <p:cNvSpPr/>
          <p:nvPr/>
        </p:nvSpPr>
        <p:spPr>
          <a:xfrm flipV="1">
            <a:off x="5690800" y="4802429"/>
            <a:ext cx="209730" cy="185623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65" name="Shape 63"/>
          <p:cNvSpPr/>
          <p:nvPr/>
        </p:nvSpPr>
        <p:spPr>
          <a:xfrm>
            <a:off x="5447995" y="4780483"/>
            <a:ext cx="76810" cy="76810"/>
          </a:xfrm>
          <a:prstGeom prst="ellipse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6" name="Shape 64"/>
          <p:cNvSpPr/>
          <p:nvPr/>
        </p:nvSpPr>
        <p:spPr>
          <a:xfrm>
            <a:off x="5692497" y="4518965"/>
            <a:ext cx="76810" cy="76810"/>
          </a:xfrm>
          <a:prstGeom prst="ellipse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7" name="Shape 65"/>
          <p:cNvSpPr/>
          <p:nvPr/>
        </p:nvSpPr>
        <p:spPr>
          <a:xfrm>
            <a:off x="5662422" y="4949647"/>
            <a:ext cx="76810" cy="76810"/>
          </a:xfrm>
          <a:prstGeom prst="ellipse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9" name="Shape 67"/>
          <p:cNvSpPr/>
          <p:nvPr/>
        </p:nvSpPr>
        <p:spPr>
          <a:xfrm>
            <a:off x="7269480" y="4224528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F1EFE8"/>
          </a:solidFill>
          <a:ln w="15875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0" name="Text 68"/>
          <p:cNvSpPr txBox="1"/>
          <p:nvPr/>
        </p:nvSpPr>
        <p:spPr>
          <a:xfrm>
            <a:off x="7269480" y="4297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Graph 4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 flipV="1">
            <a:off x="7635240" y="4564684"/>
            <a:ext cx="499262" cy="254204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72" name="Shape 70"/>
          <p:cNvSpPr/>
          <p:nvPr/>
        </p:nvSpPr>
        <p:spPr>
          <a:xfrm>
            <a:off x="7635240" y="4818888"/>
            <a:ext cx="499262" cy="261518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73" name="Shape 71"/>
          <p:cNvSpPr/>
          <p:nvPr/>
        </p:nvSpPr>
        <p:spPr>
          <a:xfrm>
            <a:off x="8134502" y="4557370"/>
            <a:ext cx="689458" cy="261518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74" name="Shape 72"/>
          <p:cNvSpPr/>
          <p:nvPr/>
        </p:nvSpPr>
        <p:spPr>
          <a:xfrm flipV="1">
            <a:off x="8134502" y="4826202"/>
            <a:ext cx="689458" cy="254204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75" name="Shape 73"/>
          <p:cNvSpPr/>
          <p:nvPr/>
        </p:nvSpPr>
        <p:spPr>
          <a:xfrm>
            <a:off x="7596835" y="4780483"/>
            <a:ext cx="76810" cy="76810"/>
          </a:xfrm>
          <a:prstGeom prst="ellipse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6" name="Shape 74"/>
          <p:cNvSpPr/>
          <p:nvPr/>
        </p:nvSpPr>
        <p:spPr>
          <a:xfrm>
            <a:off x="8096098" y="4518965"/>
            <a:ext cx="76810" cy="76810"/>
          </a:xfrm>
          <a:prstGeom prst="ellipse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7" name="Shape 75"/>
          <p:cNvSpPr/>
          <p:nvPr/>
        </p:nvSpPr>
        <p:spPr>
          <a:xfrm>
            <a:off x="8096098" y="5042002"/>
            <a:ext cx="76810" cy="76810"/>
          </a:xfrm>
          <a:prstGeom prst="ellipse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8" name="Shape 76"/>
          <p:cNvSpPr/>
          <p:nvPr/>
        </p:nvSpPr>
        <p:spPr>
          <a:xfrm>
            <a:off x="8785555" y="4780483"/>
            <a:ext cx="76810" cy="76810"/>
          </a:xfrm>
          <a:prstGeom prst="ellipse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9" name="Shape 77"/>
          <p:cNvSpPr/>
          <p:nvPr/>
        </p:nvSpPr>
        <p:spPr>
          <a:xfrm>
            <a:off x="9418320" y="4224528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F1EFE8"/>
          </a:solidFill>
          <a:ln w="15875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0" name="Text 78"/>
          <p:cNvSpPr txBox="1"/>
          <p:nvPr/>
        </p:nvSpPr>
        <p:spPr>
          <a:xfrm>
            <a:off x="9418320" y="4297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Graph 5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 flipV="1">
            <a:off x="9784079" y="4564684"/>
            <a:ext cx="960120" cy="254204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82" name="Shape 80"/>
          <p:cNvSpPr/>
          <p:nvPr/>
        </p:nvSpPr>
        <p:spPr>
          <a:xfrm>
            <a:off x="9784079" y="4818888"/>
            <a:ext cx="960119" cy="169163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83" name="Shape 81"/>
          <p:cNvSpPr/>
          <p:nvPr/>
        </p:nvSpPr>
        <p:spPr>
          <a:xfrm>
            <a:off x="10768354" y="4564684"/>
            <a:ext cx="204445" cy="254204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84" name="Shape 82"/>
          <p:cNvSpPr/>
          <p:nvPr/>
        </p:nvSpPr>
        <p:spPr>
          <a:xfrm flipV="1">
            <a:off x="10744198" y="4857292"/>
            <a:ext cx="204445" cy="130759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85" name="Shape 83"/>
          <p:cNvSpPr/>
          <p:nvPr/>
        </p:nvSpPr>
        <p:spPr>
          <a:xfrm>
            <a:off x="9745675" y="4780483"/>
            <a:ext cx="76810" cy="76810"/>
          </a:xfrm>
          <a:prstGeom prst="ellipse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6" name="Shape 84"/>
          <p:cNvSpPr/>
          <p:nvPr/>
        </p:nvSpPr>
        <p:spPr>
          <a:xfrm>
            <a:off x="10729949" y="4518965"/>
            <a:ext cx="76810" cy="76810"/>
          </a:xfrm>
          <a:prstGeom prst="ellipse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7" name="Shape 85"/>
          <p:cNvSpPr/>
          <p:nvPr/>
        </p:nvSpPr>
        <p:spPr>
          <a:xfrm>
            <a:off x="10732641" y="4955133"/>
            <a:ext cx="76810" cy="76810"/>
          </a:xfrm>
          <a:prstGeom prst="ellipse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8" name="Shape 86"/>
          <p:cNvSpPr/>
          <p:nvPr/>
        </p:nvSpPr>
        <p:spPr>
          <a:xfrm>
            <a:off x="10934395" y="4780483"/>
            <a:ext cx="76810" cy="76810"/>
          </a:xfrm>
          <a:prstGeom prst="ellipse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9" name="Shape 87"/>
          <p:cNvSpPr/>
          <p:nvPr/>
        </p:nvSpPr>
        <p:spPr>
          <a:xfrm>
            <a:off x="1783080" y="5093208"/>
            <a:ext cx="1751076" cy="292608"/>
          </a:xfrm>
          <a:prstGeom prst="line">
            <a:avLst/>
          </a:prstGeom>
          <a:noFill/>
          <a:ln w="12700">
            <a:solidFill>
              <a:srgbClr val="888780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90" name="Shape 88"/>
          <p:cNvSpPr/>
          <p:nvPr/>
        </p:nvSpPr>
        <p:spPr>
          <a:xfrm flipV="1">
            <a:off x="3868919" y="4831689"/>
            <a:ext cx="657361" cy="210311"/>
          </a:xfrm>
          <a:prstGeom prst="line">
            <a:avLst/>
          </a:prstGeom>
          <a:noFill/>
          <a:ln w="12700">
            <a:solidFill>
              <a:srgbClr val="888780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91" name="Shape 89"/>
          <p:cNvSpPr/>
          <p:nvPr/>
        </p:nvSpPr>
        <p:spPr>
          <a:xfrm>
            <a:off x="6080760" y="5093208"/>
            <a:ext cx="13716" cy="292608"/>
          </a:xfrm>
          <a:prstGeom prst="line">
            <a:avLst/>
          </a:prstGeom>
          <a:noFill/>
          <a:ln w="12700">
            <a:solidFill>
              <a:srgbClr val="888780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92" name="Shape 90"/>
          <p:cNvSpPr/>
          <p:nvPr/>
        </p:nvSpPr>
        <p:spPr>
          <a:xfrm>
            <a:off x="8229600" y="5093208"/>
            <a:ext cx="0" cy="292608"/>
          </a:xfrm>
          <a:prstGeom prst="line">
            <a:avLst/>
          </a:prstGeom>
          <a:noFill/>
          <a:ln w="12700">
            <a:solidFill>
              <a:srgbClr val="888780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93" name="Shape 91"/>
          <p:cNvSpPr/>
          <p:nvPr/>
        </p:nvSpPr>
        <p:spPr>
          <a:xfrm flipH="1">
            <a:off x="8862365" y="5093208"/>
            <a:ext cx="1516075" cy="292608"/>
          </a:xfrm>
          <a:prstGeom prst="line">
            <a:avLst/>
          </a:prstGeom>
          <a:noFill/>
          <a:ln w="12700">
            <a:solidFill>
              <a:srgbClr val="888780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94" name="Shape 92"/>
          <p:cNvSpPr/>
          <p:nvPr/>
        </p:nvSpPr>
        <p:spPr>
          <a:xfrm>
            <a:off x="3076956" y="5385816"/>
            <a:ext cx="6035040" cy="868680"/>
          </a:xfrm>
          <a:prstGeom prst="roundRect">
            <a:avLst>
              <a:gd name="adj" fmla="val 12632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95" name="Text 93"/>
          <p:cNvSpPr txBox="1"/>
          <p:nvPr/>
        </p:nvSpPr>
        <p:spPr>
          <a:xfrm>
            <a:off x="3076956" y="5477256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SV Graph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3534156" y="5916168"/>
            <a:ext cx="5120640" cy="0"/>
          </a:xfrm>
          <a:prstGeom prst="line">
            <a:avLst/>
          </a:prstGeom>
          <a:noFill/>
          <a:ln w="28575">
            <a:solidFill>
              <a:srgbClr val="0F6E56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97" name="Shape 95"/>
          <p:cNvSpPr/>
          <p:nvPr/>
        </p:nvSpPr>
        <p:spPr>
          <a:xfrm>
            <a:off x="3534156" y="5916168"/>
            <a:ext cx="0" cy="146304"/>
          </a:xfrm>
          <a:prstGeom prst="line">
            <a:avLst/>
          </a:prstGeom>
          <a:noFill/>
          <a:ln w="15875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98" name="Shape 96"/>
          <p:cNvSpPr/>
          <p:nvPr/>
        </p:nvSpPr>
        <p:spPr>
          <a:xfrm>
            <a:off x="3488436" y="6071616"/>
            <a:ext cx="91440" cy="91440"/>
          </a:xfrm>
          <a:prstGeom prst="ellipse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99" name="Shape 97"/>
          <p:cNvSpPr/>
          <p:nvPr/>
        </p:nvSpPr>
        <p:spPr>
          <a:xfrm>
            <a:off x="4814316" y="5916168"/>
            <a:ext cx="0" cy="146304"/>
          </a:xfrm>
          <a:prstGeom prst="line">
            <a:avLst/>
          </a:prstGeom>
          <a:noFill/>
          <a:ln w="15875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0" name="Shape 98"/>
          <p:cNvSpPr/>
          <p:nvPr/>
        </p:nvSpPr>
        <p:spPr>
          <a:xfrm>
            <a:off x="4768596" y="6071616"/>
            <a:ext cx="91440" cy="91440"/>
          </a:xfrm>
          <a:prstGeom prst="ellipse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1" name="Shape 99"/>
          <p:cNvSpPr/>
          <p:nvPr/>
        </p:nvSpPr>
        <p:spPr>
          <a:xfrm>
            <a:off x="6094476" y="5916168"/>
            <a:ext cx="0" cy="146304"/>
          </a:xfrm>
          <a:prstGeom prst="line">
            <a:avLst/>
          </a:prstGeom>
          <a:noFill/>
          <a:ln w="15875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2" name="Shape 100"/>
          <p:cNvSpPr/>
          <p:nvPr/>
        </p:nvSpPr>
        <p:spPr>
          <a:xfrm>
            <a:off x="6048756" y="6071616"/>
            <a:ext cx="91440" cy="91440"/>
          </a:xfrm>
          <a:prstGeom prst="ellipse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3" name="Shape 101"/>
          <p:cNvSpPr/>
          <p:nvPr/>
        </p:nvSpPr>
        <p:spPr>
          <a:xfrm>
            <a:off x="7374636" y="5916168"/>
            <a:ext cx="0" cy="146304"/>
          </a:xfrm>
          <a:prstGeom prst="line">
            <a:avLst/>
          </a:prstGeom>
          <a:noFill/>
          <a:ln w="15875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4" name="Shape 102"/>
          <p:cNvSpPr/>
          <p:nvPr/>
        </p:nvSpPr>
        <p:spPr>
          <a:xfrm>
            <a:off x="7328916" y="6071616"/>
            <a:ext cx="91440" cy="91440"/>
          </a:xfrm>
          <a:prstGeom prst="ellipse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5" name="Shape 103"/>
          <p:cNvSpPr/>
          <p:nvPr/>
        </p:nvSpPr>
        <p:spPr>
          <a:xfrm>
            <a:off x="8654796" y="5916168"/>
            <a:ext cx="0" cy="146304"/>
          </a:xfrm>
          <a:prstGeom prst="line">
            <a:avLst/>
          </a:prstGeom>
          <a:noFill/>
          <a:ln w="15875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6" name="Shape 104"/>
          <p:cNvSpPr/>
          <p:nvPr/>
        </p:nvSpPr>
        <p:spPr>
          <a:xfrm>
            <a:off x="8609076" y="6071616"/>
            <a:ext cx="91440" cy="91440"/>
          </a:xfrm>
          <a:prstGeom prst="ellipse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7" name="Text 105"/>
          <p:cNvSpPr txBox="1"/>
          <p:nvPr/>
        </p:nvSpPr>
        <p:spPr>
          <a:xfrm>
            <a:off x="457200" y="6364224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SV call graph welds only to its neighbor via shared overlap sequence — 5 graphs need 4 welds, not all-pairs comparison. Status: stitch algorithm designed, implementation in progress.</a:t>
            </a:r>
            <a:endParaRPr lang="en-US" sz="1100" dirty="0"/>
          </a:p>
        </p:txBody>
      </p:sp>
      <p:sp>
        <p:nvSpPr>
          <p:cNvPr id="114" name="Shape 6">
            <a:extLst>
              <a:ext uri="{FF2B5EF4-FFF2-40B4-BE49-F238E27FC236}">
                <a16:creationId xmlns:a16="http://schemas.microsoft.com/office/drawing/2014/main" id="{C1891D60-8916-812B-E8BF-31329AE87462}"/>
              </a:ext>
            </a:extLst>
          </p:cNvPr>
          <p:cNvSpPr/>
          <p:nvPr/>
        </p:nvSpPr>
        <p:spPr>
          <a:xfrm flipH="1" flipV="1">
            <a:off x="2415844" y="1814530"/>
            <a:ext cx="2071981" cy="599726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15" name="Shape 6">
            <a:extLst>
              <a:ext uri="{FF2B5EF4-FFF2-40B4-BE49-F238E27FC236}">
                <a16:creationId xmlns:a16="http://schemas.microsoft.com/office/drawing/2014/main" id="{B3B24FAE-BDCA-9133-90D7-78A61F61E39A}"/>
              </a:ext>
            </a:extLst>
          </p:cNvPr>
          <p:cNvSpPr/>
          <p:nvPr/>
        </p:nvSpPr>
        <p:spPr>
          <a:xfrm flipH="1" flipV="1">
            <a:off x="2415844" y="1805759"/>
            <a:ext cx="2071947" cy="926495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17" name="Shape 9">
            <a:extLst>
              <a:ext uri="{FF2B5EF4-FFF2-40B4-BE49-F238E27FC236}">
                <a16:creationId xmlns:a16="http://schemas.microsoft.com/office/drawing/2014/main" id="{73DD45F8-A917-CD05-BAAE-2FB0173707D4}"/>
              </a:ext>
            </a:extLst>
          </p:cNvPr>
          <p:cNvSpPr/>
          <p:nvPr/>
        </p:nvSpPr>
        <p:spPr>
          <a:xfrm flipH="1" flipV="1">
            <a:off x="2445997" y="2159144"/>
            <a:ext cx="2072014" cy="279686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18" name="Shape 9">
            <a:extLst>
              <a:ext uri="{FF2B5EF4-FFF2-40B4-BE49-F238E27FC236}">
                <a16:creationId xmlns:a16="http://schemas.microsoft.com/office/drawing/2014/main" id="{3F0D806C-08D1-A86E-CEC2-74519855CDC4}"/>
              </a:ext>
            </a:extLst>
          </p:cNvPr>
          <p:cNvSpPr/>
          <p:nvPr/>
        </p:nvSpPr>
        <p:spPr>
          <a:xfrm flipH="1" flipV="1">
            <a:off x="2418483" y="2145424"/>
            <a:ext cx="2072015" cy="630813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19" name="Shape 9">
            <a:extLst>
              <a:ext uri="{FF2B5EF4-FFF2-40B4-BE49-F238E27FC236}">
                <a16:creationId xmlns:a16="http://schemas.microsoft.com/office/drawing/2014/main" id="{7C000CCF-66F2-45D8-60A4-5D6C0C5CEE28}"/>
              </a:ext>
            </a:extLst>
          </p:cNvPr>
          <p:cNvSpPr/>
          <p:nvPr/>
        </p:nvSpPr>
        <p:spPr>
          <a:xfrm flipH="1" flipV="1">
            <a:off x="2407590" y="2130607"/>
            <a:ext cx="2080268" cy="978472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20" name="Shape 9">
            <a:extLst>
              <a:ext uri="{FF2B5EF4-FFF2-40B4-BE49-F238E27FC236}">
                <a16:creationId xmlns:a16="http://schemas.microsoft.com/office/drawing/2014/main" id="{7A92AC6B-4664-D9D3-B256-261508C8F550}"/>
              </a:ext>
            </a:extLst>
          </p:cNvPr>
          <p:cNvSpPr/>
          <p:nvPr/>
        </p:nvSpPr>
        <p:spPr>
          <a:xfrm flipH="1">
            <a:off x="2432917" y="1736017"/>
            <a:ext cx="2059068" cy="737035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21" name="Shape 9">
            <a:extLst>
              <a:ext uri="{FF2B5EF4-FFF2-40B4-BE49-F238E27FC236}">
                <a16:creationId xmlns:a16="http://schemas.microsoft.com/office/drawing/2014/main" id="{C1C984A5-82FE-29FF-1A1A-FFAF578995B4}"/>
              </a:ext>
            </a:extLst>
          </p:cNvPr>
          <p:cNvSpPr/>
          <p:nvPr/>
        </p:nvSpPr>
        <p:spPr>
          <a:xfrm flipH="1">
            <a:off x="2418190" y="2081054"/>
            <a:ext cx="2072015" cy="415258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23" name="Shape 9">
            <a:extLst>
              <a:ext uri="{FF2B5EF4-FFF2-40B4-BE49-F238E27FC236}">
                <a16:creationId xmlns:a16="http://schemas.microsoft.com/office/drawing/2014/main" id="{1AF19A15-E093-DF10-7538-F63E91CAE0AB}"/>
              </a:ext>
            </a:extLst>
          </p:cNvPr>
          <p:cNvSpPr/>
          <p:nvPr/>
        </p:nvSpPr>
        <p:spPr>
          <a:xfrm flipH="1" flipV="1">
            <a:off x="2466016" y="2482491"/>
            <a:ext cx="2060264" cy="287773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24" name="Shape 9">
            <a:extLst>
              <a:ext uri="{FF2B5EF4-FFF2-40B4-BE49-F238E27FC236}">
                <a16:creationId xmlns:a16="http://schemas.microsoft.com/office/drawing/2014/main" id="{3E8A04FE-3AAC-E96A-817E-A18B933025C7}"/>
              </a:ext>
            </a:extLst>
          </p:cNvPr>
          <p:cNvSpPr/>
          <p:nvPr/>
        </p:nvSpPr>
        <p:spPr>
          <a:xfrm flipH="1" flipV="1">
            <a:off x="2431721" y="2504536"/>
            <a:ext cx="2060264" cy="604543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25" name="Shape 9">
            <a:extLst>
              <a:ext uri="{FF2B5EF4-FFF2-40B4-BE49-F238E27FC236}">
                <a16:creationId xmlns:a16="http://schemas.microsoft.com/office/drawing/2014/main" id="{757A299F-29A6-F472-E000-7CEB3AAFC55B}"/>
              </a:ext>
            </a:extLst>
          </p:cNvPr>
          <p:cNvSpPr/>
          <p:nvPr/>
        </p:nvSpPr>
        <p:spPr>
          <a:xfrm flipH="1">
            <a:off x="2417592" y="1746504"/>
            <a:ext cx="2066139" cy="1069872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26" name="Shape 9">
            <a:extLst>
              <a:ext uri="{FF2B5EF4-FFF2-40B4-BE49-F238E27FC236}">
                <a16:creationId xmlns:a16="http://schemas.microsoft.com/office/drawing/2014/main" id="{ED53B0EB-0EC5-A691-0B1B-2F276D48F827}"/>
              </a:ext>
            </a:extLst>
          </p:cNvPr>
          <p:cNvSpPr/>
          <p:nvPr/>
        </p:nvSpPr>
        <p:spPr>
          <a:xfrm flipH="1">
            <a:off x="2432868" y="2097909"/>
            <a:ext cx="2050863" cy="712252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27" name="Shape 9">
            <a:extLst>
              <a:ext uri="{FF2B5EF4-FFF2-40B4-BE49-F238E27FC236}">
                <a16:creationId xmlns:a16="http://schemas.microsoft.com/office/drawing/2014/main" id="{475E973E-8291-A965-A799-4FC8BE2109E1}"/>
              </a:ext>
            </a:extLst>
          </p:cNvPr>
          <p:cNvSpPr/>
          <p:nvPr/>
        </p:nvSpPr>
        <p:spPr>
          <a:xfrm flipH="1">
            <a:off x="2419197" y="2414255"/>
            <a:ext cx="2064534" cy="410687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29" name="Shape 9">
            <a:extLst>
              <a:ext uri="{FF2B5EF4-FFF2-40B4-BE49-F238E27FC236}">
                <a16:creationId xmlns:a16="http://schemas.microsoft.com/office/drawing/2014/main" id="{F7E3499A-220C-F33C-EDF7-DBF951151155}"/>
              </a:ext>
            </a:extLst>
          </p:cNvPr>
          <p:cNvSpPr/>
          <p:nvPr/>
        </p:nvSpPr>
        <p:spPr>
          <a:xfrm flipH="1" flipV="1">
            <a:off x="2408075" y="2819302"/>
            <a:ext cx="2110420" cy="267832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0" name="Shape 9">
            <a:extLst>
              <a:ext uri="{FF2B5EF4-FFF2-40B4-BE49-F238E27FC236}">
                <a16:creationId xmlns:a16="http://schemas.microsoft.com/office/drawing/2014/main" id="{88920BD8-C8B0-25EB-D6BB-AC5CB6597530}"/>
              </a:ext>
            </a:extLst>
          </p:cNvPr>
          <p:cNvSpPr/>
          <p:nvPr/>
        </p:nvSpPr>
        <p:spPr>
          <a:xfrm flipH="1">
            <a:off x="2423587" y="1736016"/>
            <a:ext cx="2068398" cy="1409440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1" name="Shape 9">
            <a:extLst>
              <a:ext uri="{FF2B5EF4-FFF2-40B4-BE49-F238E27FC236}">
                <a16:creationId xmlns:a16="http://schemas.microsoft.com/office/drawing/2014/main" id="{E21AF4A0-9EAE-9817-910F-D02F2883D41E}"/>
              </a:ext>
            </a:extLst>
          </p:cNvPr>
          <p:cNvSpPr/>
          <p:nvPr/>
        </p:nvSpPr>
        <p:spPr>
          <a:xfrm flipH="1">
            <a:off x="2398450" y="2081054"/>
            <a:ext cx="2085282" cy="1065734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2" name="Shape 9">
            <a:extLst>
              <a:ext uri="{FF2B5EF4-FFF2-40B4-BE49-F238E27FC236}">
                <a16:creationId xmlns:a16="http://schemas.microsoft.com/office/drawing/2014/main" id="{2047C9ED-C3DF-3706-1049-A0F4125AF3AE}"/>
              </a:ext>
            </a:extLst>
          </p:cNvPr>
          <p:cNvSpPr/>
          <p:nvPr/>
        </p:nvSpPr>
        <p:spPr>
          <a:xfrm flipH="1">
            <a:off x="2430410" y="2414255"/>
            <a:ext cx="2072014" cy="739945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3" name="Shape 9">
            <a:extLst>
              <a:ext uri="{FF2B5EF4-FFF2-40B4-BE49-F238E27FC236}">
                <a16:creationId xmlns:a16="http://schemas.microsoft.com/office/drawing/2014/main" id="{C5531798-6764-FF13-0313-7FE47420A275}"/>
              </a:ext>
            </a:extLst>
          </p:cNvPr>
          <p:cNvSpPr/>
          <p:nvPr/>
        </p:nvSpPr>
        <p:spPr>
          <a:xfrm flipH="1">
            <a:off x="2419970" y="2763254"/>
            <a:ext cx="2106309" cy="370943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2841778" y="2999352"/>
            <a:ext cx="0" cy="0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2327267" y="2732256"/>
            <a:ext cx="146304" cy="146304"/>
          </a:xfrm>
          <a:prstGeom prst="ellipse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2323431" y="3068846"/>
            <a:ext cx="146304" cy="146304"/>
          </a:xfrm>
          <a:prstGeom prst="ellipse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2334923" y="2395665"/>
            <a:ext cx="146304" cy="146304"/>
          </a:xfrm>
          <a:prstGeom prst="ellipse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2323431" y="1722483"/>
            <a:ext cx="146304" cy="146304"/>
          </a:xfrm>
          <a:prstGeom prst="ellipse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8" name="Shape 19">
            <a:extLst>
              <a:ext uri="{FF2B5EF4-FFF2-40B4-BE49-F238E27FC236}">
                <a16:creationId xmlns:a16="http://schemas.microsoft.com/office/drawing/2014/main" id="{8ED00EE4-B516-32CE-B20C-CCF82794196E}"/>
              </a:ext>
            </a:extLst>
          </p:cNvPr>
          <p:cNvSpPr/>
          <p:nvPr/>
        </p:nvSpPr>
        <p:spPr>
          <a:xfrm>
            <a:off x="2320220" y="2059074"/>
            <a:ext cx="146304" cy="146304"/>
          </a:xfrm>
          <a:prstGeom prst="ellipse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3798617" y="2304168"/>
            <a:ext cx="0" cy="0"/>
          </a:xfrm>
          <a:prstGeom prst="line">
            <a:avLst/>
          </a:prstGeom>
          <a:noFill/>
          <a:ln w="13970">
            <a:solidFill>
              <a:srgbClr val="993C1D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9" name="Shape 15">
            <a:extLst>
              <a:ext uri="{FF2B5EF4-FFF2-40B4-BE49-F238E27FC236}">
                <a16:creationId xmlns:a16="http://schemas.microsoft.com/office/drawing/2014/main" id="{C5DA1193-502F-EEF7-AA4C-C1A3D2B7E2C0}"/>
              </a:ext>
            </a:extLst>
          </p:cNvPr>
          <p:cNvSpPr/>
          <p:nvPr/>
        </p:nvSpPr>
        <p:spPr>
          <a:xfrm>
            <a:off x="4427456" y="2681964"/>
            <a:ext cx="146304" cy="146304"/>
          </a:xfrm>
          <a:prstGeom prst="ellipse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10" name="Shape 17">
            <a:extLst>
              <a:ext uri="{FF2B5EF4-FFF2-40B4-BE49-F238E27FC236}">
                <a16:creationId xmlns:a16="http://schemas.microsoft.com/office/drawing/2014/main" id="{1B696026-4C68-6C61-94CE-50BAA4689396}"/>
              </a:ext>
            </a:extLst>
          </p:cNvPr>
          <p:cNvSpPr/>
          <p:nvPr/>
        </p:nvSpPr>
        <p:spPr>
          <a:xfrm>
            <a:off x="4423620" y="3018554"/>
            <a:ext cx="146304" cy="146304"/>
          </a:xfrm>
          <a:prstGeom prst="ellipse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11" name="Shape 18">
            <a:extLst>
              <a:ext uri="{FF2B5EF4-FFF2-40B4-BE49-F238E27FC236}">
                <a16:creationId xmlns:a16="http://schemas.microsoft.com/office/drawing/2014/main" id="{EBD48A19-ED65-0C15-2EEA-8B6549AB8B24}"/>
              </a:ext>
            </a:extLst>
          </p:cNvPr>
          <p:cNvSpPr/>
          <p:nvPr/>
        </p:nvSpPr>
        <p:spPr>
          <a:xfrm>
            <a:off x="4435112" y="2345373"/>
            <a:ext cx="146304" cy="146304"/>
          </a:xfrm>
          <a:prstGeom prst="ellipse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12" name="Shape 19">
            <a:extLst>
              <a:ext uri="{FF2B5EF4-FFF2-40B4-BE49-F238E27FC236}">
                <a16:creationId xmlns:a16="http://schemas.microsoft.com/office/drawing/2014/main" id="{D0C3DBC0-5EDA-A039-D7AF-D82F46185A5D}"/>
              </a:ext>
            </a:extLst>
          </p:cNvPr>
          <p:cNvSpPr/>
          <p:nvPr/>
        </p:nvSpPr>
        <p:spPr>
          <a:xfrm>
            <a:off x="4423620" y="1672191"/>
            <a:ext cx="146304" cy="146304"/>
          </a:xfrm>
          <a:prstGeom prst="ellipse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13" name="Shape 19">
            <a:extLst>
              <a:ext uri="{FF2B5EF4-FFF2-40B4-BE49-F238E27FC236}">
                <a16:creationId xmlns:a16="http://schemas.microsoft.com/office/drawing/2014/main" id="{F343ABF5-6D8B-27D8-A65C-2F8B9BC21DFC}"/>
              </a:ext>
            </a:extLst>
          </p:cNvPr>
          <p:cNvSpPr/>
          <p:nvPr/>
        </p:nvSpPr>
        <p:spPr>
          <a:xfrm>
            <a:off x="4420409" y="2008782"/>
            <a:ext cx="146304" cy="146304"/>
          </a:xfrm>
          <a:prstGeom prst="ellipse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6" name="Shape 24">
            <a:extLst>
              <a:ext uri="{FF2B5EF4-FFF2-40B4-BE49-F238E27FC236}">
                <a16:creationId xmlns:a16="http://schemas.microsoft.com/office/drawing/2014/main" id="{860E7941-900C-3A13-75B7-275CB1FCD166}"/>
              </a:ext>
            </a:extLst>
          </p:cNvPr>
          <p:cNvSpPr/>
          <p:nvPr/>
        </p:nvSpPr>
        <p:spPr>
          <a:xfrm flipV="1">
            <a:off x="7768838" y="1865376"/>
            <a:ext cx="815023" cy="592208"/>
          </a:xfrm>
          <a:prstGeom prst="line">
            <a:avLst/>
          </a:prstGeom>
          <a:noFill/>
          <a:ln w="13970">
            <a:solidFill>
              <a:srgbClr val="888780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35" name="Shape 33"/>
          <p:cNvSpPr/>
          <p:nvPr/>
        </p:nvSpPr>
        <p:spPr>
          <a:xfrm>
            <a:off x="7635240" y="2368296"/>
            <a:ext cx="201168" cy="201168"/>
          </a:xfrm>
          <a:prstGeom prst="ellipse">
            <a:avLst/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0" name="Shape 28"/>
          <p:cNvSpPr/>
          <p:nvPr/>
        </p:nvSpPr>
        <p:spPr>
          <a:xfrm>
            <a:off x="8516291" y="1800512"/>
            <a:ext cx="146304" cy="146304"/>
          </a:xfrm>
          <a:prstGeom prst="ellipse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5" name="Shape 24">
            <a:extLst>
              <a:ext uri="{FF2B5EF4-FFF2-40B4-BE49-F238E27FC236}">
                <a16:creationId xmlns:a16="http://schemas.microsoft.com/office/drawing/2014/main" id="{72AFBE68-C702-DD95-C880-1935E638536C}"/>
              </a:ext>
            </a:extLst>
          </p:cNvPr>
          <p:cNvSpPr/>
          <p:nvPr/>
        </p:nvSpPr>
        <p:spPr>
          <a:xfrm flipV="1">
            <a:off x="7796367" y="2246625"/>
            <a:ext cx="809245" cy="245114"/>
          </a:xfrm>
          <a:prstGeom prst="line">
            <a:avLst/>
          </a:prstGeom>
          <a:noFill/>
          <a:ln w="13970">
            <a:solidFill>
              <a:srgbClr val="888780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34" name="Shape 32"/>
          <p:cNvSpPr/>
          <p:nvPr/>
        </p:nvSpPr>
        <p:spPr>
          <a:xfrm>
            <a:off x="8516291" y="2156480"/>
            <a:ext cx="146304" cy="146304"/>
          </a:xfrm>
          <a:prstGeom prst="ellipse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7" name="Shape 59">
            <a:extLst>
              <a:ext uri="{FF2B5EF4-FFF2-40B4-BE49-F238E27FC236}">
                <a16:creationId xmlns:a16="http://schemas.microsoft.com/office/drawing/2014/main" id="{8CDDC6A0-9B13-55BF-6F0C-074E0DE20F14}"/>
              </a:ext>
            </a:extLst>
          </p:cNvPr>
          <p:cNvSpPr/>
          <p:nvPr/>
        </p:nvSpPr>
        <p:spPr>
          <a:xfrm flipV="1">
            <a:off x="5904149" y="4557370"/>
            <a:ext cx="323736" cy="252832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8" name="Shape 60">
            <a:extLst>
              <a:ext uri="{FF2B5EF4-FFF2-40B4-BE49-F238E27FC236}">
                <a16:creationId xmlns:a16="http://schemas.microsoft.com/office/drawing/2014/main" id="{3B35FB06-3AF2-089C-F08E-56A234E08B17}"/>
              </a:ext>
            </a:extLst>
          </p:cNvPr>
          <p:cNvSpPr/>
          <p:nvPr/>
        </p:nvSpPr>
        <p:spPr>
          <a:xfrm>
            <a:off x="5904148" y="4810201"/>
            <a:ext cx="327487" cy="185623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39" name="Shape 61">
            <a:extLst>
              <a:ext uri="{FF2B5EF4-FFF2-40B4-BE49-F238E27FC236}">
                <a16:creationId xmlns:a16="http://schemas.microsoft.com/office/drawing/2014/main" id="{F0A10AB0-FEF1-C506-3DF2-A56A886E7B73}"/>
              </a:ext>
            </a:extLst>
          </p:cNvPr>
          <p:cNvSpPr/>
          <p:nvPr/>
        </p:nvSpPr>
        <p:spPr>
          <a:xfrm>
            <a:off x="6266290" y="4557370"/>
            <a:ext cx="275327" cy="259688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40" name="Shape 62">
            <a:extLst>
              <a:ext uri="{FF2B5EF4-FFF2-40B4-BE49-F238E27FC236}">
                <a16:creationId xmlns:a16="http://schemas.microsoft.com/office/drawing/2014/main" id="{310D56CD-FD28-A492-4DBA-71ED03DDDBB4}"/>
              </a:ext>
            </a:extLst>
          </p:cNvPr>
          <p:cNvSpPr/>
          <p:nvPr/>
        </p:nvSpPr>
        <p:spPr>
          <a:xfrm flipV="1">
            <a:off x="6266289" y="4831687"/>
            <a:ext cx="275327" cy="156364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none"/>
          </a:ln>
        </p:spPr>
        <p:txBody>
          <a:bodyPr/>
          <a:lstStyle/>
          <a:p>
            <a:endParaRPr lang="en-US" sz="1600"/>
          </a:p>
        </p:txBody>
      </p:sp>
      <p:sp>
        <p:nvSpPr>
          <p:cNvPr id="141" name="Shape 64">
            <a:extLst>
              <a:ext uri="{FF2B5EF4-FFF2-40B4-BE49-F238E27FC236}">
                <a16:creationId xmlns:a16="http://schemas.microsoft.com/office/drawing/2014/main" id="{E8427B5D-375E-F5E4-D7A1-484144B01C33}"/>
              </a:ext>
            </a:extLst>
          </p:cNvPr>
          <p:cNvSpPr/>
          <p:nvPr/>
        </p:nvSpPr>
        <p:spPr>
          <a:xfrm>
            <a:off x="6200903" y="4517999"/>
            <a:ext cx="76810" cy="76810"/>
          </a:xfrm>
          <a:prstGeom prst="ellipse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42" name="Shape 65">
            <a:extLst>
              <a:ext uri="{FF2B5EF4-FFF2-40B4-BE49-F238E27FC236}">
                <a16:creationId xmlns:a16="http://schemas.microsoft.com/office/drawing/2014/main" id="{8687A3F8-769E-296F-C8D7-8CCC8EC693FB}"/>
              </a:ext>
            </a:extLst>
          </p:cNvPr>
          <p:cNvSpPr/>
          <p:nvPr/>
        </p:nvSpPr>
        <p:spPr>
          <a:xfrm>
            <a:off x="6204204" y="4939588"/>
            <a:ext cx="76810" cy="76810"/>
          </a:xfrm>
          <a:prstGeom prst="ellipse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43" name="Shape 66">
            <a:extLst>
              <a:ext uri="{FF2B5EF4-FFF2-40B4-BE49-F238E27FC236}">
                <a16:creationId xmlns:a16="http://schemas.microsoft.com/office/drawing/2014/main" id="{9944583E-C430-527E-E4CA-06C71275555C}"/>
              </a:ext>
            </a:extLst>
          </p:cNvPr>
          <p:cNvSpPr/>
          <p:nvPr/>
        </p:nvSpPr>
        <p:spPr>
          <a:xfrm>
            <a:off x="6509613" y="4770373"/>
            <a:ext cx="76810" cy="76810"/>
          </a:xfrm>
          <a:prstGeom prst="ellipse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8" name="Shape 66"/>
          <p:cNvSpPr/>
          <p:nvPr/>
        </p:nvSpPr>
        <p:spPr>
          <a:xfrm>
            <a:off x="5862124" y="4771339"/>
            <a:ext cx="76810" cy="76810"/>
          </a:xfrm>
          <a:prstGeom prst="ellipse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1A5E259-63BF-44A7-EB51-D0C8AA1148BB}"/>
              </a:ext>
            </a:extLst>
          </p:cNvPr>
          <p:cNvSpPr txBox="1"/>
          <p:nvPr/>
        </p:nvSpPr>
        <p:spPr>
          <a:xfrm>
            <a:off x="1573682" y="914174"/>
            <a:ext cx="4573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Pangenome Graph Building (PGGB) builds our graphs</a:t>
            </a:r>
          </a:p>
        </p:txBody>
      </p:sp>
      <p:sp>
        <p:nvSpPr>
          <p:cNvPr id="145" name="Shape 33">
            <a:extLst>
              <a:ext uri="{FF2B5EF4-FFF2-40B4-BE49-F238E27FC236}">
                <a16:creationId xmlns:a16="http://schemas.microsoft.com/office/drawing/2014/main" id="{C741D005-85FF-E31A-9C2D-F8503036AC88}"/>
              </a:ext>
            </a:extLst>
          </p:cNvPr>
          <p:cNvSpPr/>
          <p:nvPr/>
        </p:nvSpPr>
        <p:spPr>
          <a:xfrm>
            <a:off x="2268931" y="1694368"/>
            <a:ext cx="201168" cy="201168"/>
          </a:xfrm>
          <a:prstGeom prst="ellipse">
            <a:avLst/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46" name="Shape 33">
            <a:extLst>
              <a:ext uri="{FF2B5EF4-FFF2-40B4-BE49-F238E27FC236}">
                <a16:creationId xmlns:a16="http://schemas.microsoft.com/office/drawing/2014/main" id="{5D8C575D-A5A7-F8B5-B6AF-ACDD67024CAC}"/>
              </a:ext>
            </a:extLst>
          </p:cNvPr>
          <p:cNvSpPr/>
          <p:nvPr/>
        </p:nvSpPr>
        <p:spPr>
          <a:xfrm>
            <a:off x="4391401" y="1649576"/>
            <a:ext cx="201168" cy="201168"/>
          </a:xfrm>
          <a:prstGeom prst="ellipse">
            <a:avLst/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9F7863-EA76-2E45-1B1D-6D9C39B7C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922" y="392495"/>
            <a:ext cx="6127701" cy="30283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8BBDA0-38E8-A9E9-9DBC-BDFDC3CCF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934" y="3429000"/>
            <a:ext cx="6051188" cy="30197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290A0D-B018-A40F-F2B0-28D78044C4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181" b="19179"/>
          <a:stretch>
            <a:fillRect/>
          </a:stretch>
        </p:blipFill>
        <p:spPr>
          <a:xfrm>
            <a:off x="245061" y="2163869"/>
            <a:ext cx="5048751" cy="2254370"/>
          </a:xfrm>
          <a:prstGeom prst="roundRect">
            <a:avLst>
              <a:gd name="adj" fmla="val 18765"/>
            </a:avLst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F2176B-174D-538F-B6B4-3771C410A8DE}"/>
              </a:ext>
            </a:extLst>
          </p:cNvPr>
          <p:cNvSpPr txBox="1"/>
          <p:nvPr/>
        </p:nvSpPr>
        <p:spPr>
          <a:xfrm>
            <a:off x="2035869" y="4041139"/>
            <a:ext cx="1467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graph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155B74-E89B-1EE4-270A-CD5729E6BC06}"/>
              </a:ext>
            </a:extLst>
          </p:cNvPr>
          <p:cNvCxnSpPr>
            <a:cxnSpLocks/>
          </p:cNvCxnSpPr>
          <p:nvPr/>
        </p:nvCxnSpPr>
        <p:spPr>
          <a:xfrm>
            <a:off x="5581327" y="893557"/>
            <a:ext cx="0" cy="505460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34C8829-48AF-CBCA-9D11-5DB5337E32E2}"/>
              </a:ext>
            </a:extLst>
          </p:cNvPr>
          <p:cNvSpPr txBox="1"/>
          <p:nvPr/>
        </p:nvSpPr>
        <p:spPr>
          <a:xfrm>
            <a:off x="556592" y="247226"/>
            <a:ext cx="4222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Benchmarking results</a:t>
            </a:r>
          </a:p>
        </p:txBody>
      </p:sp>
    </p:spTree>
    <p:extLst>
      <p:ext uri="{BB962C8B-B14F-4D97-AF65-F5344CB8AC3E}">
        <p14:creationId xmlns:p14="http://schemas.microsoft.com/office/powerpoint/2010/main" val="2075093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Benchmarking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equivalence with the baseline graph, and browsing the result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500116" cy="2331720"/>
          </a:xfrm>
          <a:prstGeom prst="roundRect">
            <a:avLst>
              <a:gd name="adj" fmla="val 4706"/>
            </a:avLst>
          </a:prstGeom>
          <a:solidFill>
            <a:srgbClr val="F1EFE8"/>
          </a:solidFill>
          <a:ln w="15875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48600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GOAL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48600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haplotype paths, topology, sequence content, and variant calls — relative to the monolithic baseline graph.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31636" y="1417320"/>
            <a:ext cx="5500116" cy="2331720"/>
          </a:xfrm>
          <a:prstGeom prst="roundRect">
            <a:avLst>
              <a:gd name="adj" fmla="val 4706"/>
            </a:avLst>
          </a:prstGeom>
          <a:solidFill>
            <a:srgbClr val="F1EFE8"/>
          </a:solidFill>
          <a:ln w="15875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505956" y="1600200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Pipeline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05956" y="210312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E6F1FB"/>
          </a:solidFill>
          <a:ln w="1587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05956" y="2103120"/>
            <a:ext cx="12801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 deconstruct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97596" y="210312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E6F1FB"/>
          </a:solidFill>
          <a:ln w="15875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97596" y="2103120"/>
            <a:ext cx="12801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Truvari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889236" y="210312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15875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889236" y="2103120"/>
            <a:ext cx="12801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/ F1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86116" y="2377440"/>
            <a:ext cx="411480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477756" y="2377440"/>
            <a:ext cx="411480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97596" y="297180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FAECE7"/>
          </a:solidFill>
          <a:ln w="15875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97596" y="2971800"/>
            <a:ext cx="12801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dipcall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vs GRCh38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37676" y="2971800"/>
            <a:ext cx="0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5500116" cy="2331720"/>
          </a:xfrm>
          <a:prstGeom prst="roundRect">
            <a:avLst>
              <a:gd name="adj" fmla="val 4706"/>
            </a:avLst>
          </a:prstGeom>
          <a:solidFill>
            <a:srgbClr val="F1EFE8"/>
          </a:solidFill>
          <a:ln w="15875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57200" y="4343400"/>
            <a:ext cx="55001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6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349240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 (2 skipped)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715000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GFA parsing · chunking · merge · interval mapping · provenance · orchestration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31636" y="4023360"/>
            <a:ext cx="5500116" cy="2331720"/>
          </a:xfrm>
          <a:prstGeom prst="roundRect">
            <a:avLst>
              <a:gd name="adj" fmla="val 4706"/>
            </a:avLst>
          </a:prstGeom>
          <a:solidFill>
            <a:srgbClr val="F1EFE8"/>
          </a:solidFill>
          <a:ln w="15875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505956" y="4206240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Explorer (Web)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505956" y="4617720"/>
            <a:ext cx="49514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React dashboard. Loads compact JSON summaries — not raw GFA — for fast browser rendering of merged pangenome graphs.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05956" y="5715000"/>
            <a:ext cx="4951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initial version live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status: baseline benchmarking is wired up; full parallel-vs-baseline equivalence is pending the stitch algorithm (see previous slide).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11F1D2C-C752-1FEA-38BA-3B3BC4C4A0A3}"/>
              </a:ext>
            </a:extLst>
          </p:cNvPr>
          <p:cNvGraphicFramePr>
            <a:graphicFrameLocks noGrp="1"/>
          </p:cNvGraphicFramePr>
          <p:nvPr/>
        </p:nvGraphicFramePr>
        <p:xfrm>
          <a:off x="2361644" y="1794424"/>
          <a:ext cx="7468712" cy="4413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3589">
                  <a:extLst>
                    <a:ext uri="{9D8B030D-6E8A-4147-A177-3AD203B41FA5}">
                      <a16:colId xmlns:a16="http://schemas.microsoft.com/office/drawing/2014/main" val="2088437532"/>
                    </a:ext>
                  </a:extLst>
                </a:gridCol>
                <a:gridCol w="933589">
                  <a:extLst>
                    <a:ext uri="{9D8B030D-6E8A-4147-A177-3AD203B41FA5}">
                      <a16:colId xmlns:a16="http://schemas.microsoft.com/office/drawing/2014/main" val="3653235173"/>
                    </a:ext>
                  </a:extLst>
                </a:gridCol>
                <a:gridCol w="933589">
                  <a:extLst>
                    <a:ext uri="{9D8B030D-6E8A-4147-A177-3AD203B41FA5}">
                      <a16:colId xmlns:a16="http://schemas.microsoft.com/office/drawing/2014/main" val="1777887688"/>
                    </a:ext>
                  </a:extLst>
                </a:gridCol>
                <a:gridCol w="933589">
                  <a:extLst>
                    <a:ext uri="{9D8B030D-6E8A-4147-A177-3AD203B41FA5}">
                      <a16:colId xmlns:a16="http://schemas.microsoft.com/office/drawing/2014/main" val="562188987"/>
                    </a:ext>
                  </a:extLst>
                </a:gridCol>
                <a:gridCol w="933589">
                  <a:extLst>
                    <a:ext uri="{9D8B030D-6E8A-4147-A177-3AD203B41FA5}">
                      <a16:colId xmlns:a16="http://schemas.microsoft.com/office/drawing/2014/main" val="3613409284"/>
                    </a:ext>
                  </a:extLst>
                </a:gridCol>
                <a:gridCol w="933589">
                  <a:extLst>
                    <a:ext uri="{9D8B030D-6E8A-4147-A177-3AD203B41FA5}">
                      <a16:colId xmlns:a16="http://schemas.microsoft.com/office/drawing/2014/main" val="1895497540"/>
                    </a:ext>
                  </a:extLst>
                </a:gridCol>
                <a:gridCol w="933589">
                  <a:extLst>
                    <a:ext uri="{9D8B030D-6E8A-4147-A177-3AD203B41FA5}">
                      <a16:colId xmlns:a16="http://schemas.microsoft.com/office/drawing/2014/main" val="1730913346"/>
                    </a:ext>
                  </a:extLst>
                </a:gridCol>
                <a:gridCol w="933589">
                  <a:extLst>
                    <a:ext uri="{9D8B030D-6E8A-4147-A177-3AD203B41FA5}">
                      <a16:colId xmlns:a16="http://schemas.microsoft.com/office/drawing/2014/main" val="2161183942"/>
                    </a:ext>
                  </a:extLst>
                </a:gridCol>
              </a:tblGrid>
              <a:tr h="259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Run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Sequences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Input bp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Wall time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Peak mem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Nodes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Edges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Graph bp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2092315870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all (5 together)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5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5,006,733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129s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868.0 MiB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10,397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14,197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1,006,575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214702365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pairwise · HG00673#1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2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2,001,738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108s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895.0 MiB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5,497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7,449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1,004,196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12379588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pairwise · HG00673#2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2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2,001,667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110s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855.0 MiB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5,816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7,885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1,004,255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658289999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pairwise · HG00733#1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2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2,001,586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110s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846.4 MiB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6,061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8,214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1,004,282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315872899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pairwise · HG00733#2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2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2,001,742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109s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849.8 MiB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6,060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8,212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1,004,410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882653665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cumulative · ref+1hap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2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2,001,738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109s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888.8 MiB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5,497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7,449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1,004,196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687501281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cumulative · ref+2hap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3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3,003,405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116s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837.7 MiB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8,049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10,957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1,005,478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4268611064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cumulative · ref+3hap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4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4,004,991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128s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965.9 MiB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9,623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13,118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1,006,187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628810631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cumulative · ref+4hap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5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5,006,733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129s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865.6 MiB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10,397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14,197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1,006,575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55861304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7668AB1-C56D-D60A-1156-FE1F87247A2A}"/>
              </a:ext>
            </a:extLst>
          </p:cNvPr>
          <p:cNvSpPr txBox="1"/>
          <p:nvPr/>
        </p:nvSpPr>
        <p:spPr>
          <a:xfrm>
            <a:off x="2397760" y="822960"/>
            <a:ext cx="2488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Results from </a:t>
            </a:r>
            <a:r>
              <a:rPr lang="en-US" dirty="0" err="1"/>
              <a:t>smoke_test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814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1154</TotalTime>
  <Words>509</Words>
  <Application>Microsoft Macintosh PowerPoint</Application>
  <PresentationFormat>Widescreen</PresentationFormat>
  <Paragraphs>144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Lehr, Alexander</cp:lastModifiedBy>
  <cp:revision>7</cp:revision>
  <dcterms:created xsi:type="dcterms:W3CDTF">2026-08-27T13:31:35Z</dcterms:created>
  <dcterms:modified xsi:type="dcterms:W3CDTF">2026-08-28T19:05:44Z</dcterms:modified>
</cp:coreProperties>
</file>